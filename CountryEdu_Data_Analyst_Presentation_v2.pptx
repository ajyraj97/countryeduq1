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CDD3"/>
                </a:solidFill>
              </a:defRPr>
            </a:pPr>
            <a:r>
              <a:t>DATA ANALYST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</a:defRPr>
            </a:pPr>
            <a:r>
              <a:t>IT Support Cost</a:t>
            </a:r>
            <a:br/>
            <a: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6EE"/>
                </a:solidFill>
              </a:defRPr>
            </a:pPr>
            <a:r>
              <a:t>Data analysis • predictive triage • real-time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CountryEdu × Abhishek &amp;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FBECD"/>
                </a:solidFill>
              </a:defRPr>
            </a:pPr>
            <a:r>
              <a:t>Synthetic demonstration — production ticket data was not supplied</a:t>
            </a:r>
          </a:p>
        </p:txBody>
      </p:sp>
      <p:sp>
        <p:nvSpPr>
          <p:cNvPr id="8" name="Oval 7"/>
          <p:cNvSpPr/>
          <p:nvPr/>
        </p:nvSpPr>
        <p:spPr>
          <a:xfrm>
            <a:off x="8321040" y="1371600"/>
            <a:ext cx="2377440" cy="2377440"/>
          </a:xfrm>
          <a:prstGeom prst="ellipse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514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COST REDUCTION</a:t>
            </a:r>
            <a:br/>
            <a: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Turn management goals into measurable analytical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669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42841"/>
                </a:solidFill>
              </a:defRPr>
            </a:pPr>
            <a:r>
              <a:t>• Reduce total support cost by 20% without damaging service quality.</a:t>
            </a:r>
          </a:p>
          <a:p>
            <a:pPr>
              <a:spcAft>
                <a:spcPts val="1000"/>
              </a:spcAft>
              <a:defRPr sz="1700">
                <a:solidFill>
                  <a:srgbClr val="142841"/>
                </a:solidFill>
              </a:defRPr>
            </a:pPr>
            <a:r>
              <a:t>• Raise customer satisfaction above 4.2.</a:t>
            </a:r>
          </a:p>
          <a:p>
            <a:pPr>
              <a:spcAft>
                <a:spcPts val="1000"/>
              </a:spcAft>
              <a:defRPr sz="1700">
                <a:solidFill>
                  <a:srgbClr val="142841"/>
                </a:solidFill>
              </a:defRPr>
            </a:pPr>
            <a:r>
              <a:t>• Reduce unnecessary escalations.</a:t>
            </a:r>
          </a:p>
          <a:p>
            <a:pPr>
              <a:spcAft>
                <a:spcPts val="1000"/>
              </a:spcAft>
              <a:defRPr sz="1700">
                <a:solidFill>
                  <a:srgbClr val="142841"/>
                </a:solidFill>
              </a:defRPr>
            </a:pPr>
            <a:r>
              <a:t>• Optimize engineer allocation using demand, workload and expertise.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1732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417320"/>
            <a:ext cx="64008" cy="109728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563624"/>
            <a:ext cx="3977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DATA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856232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50,000 events/sec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240280"/>
            <a:ext cx="3977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streaming requirement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74320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743200"/>
            <a:ext cx="64008" cy="1097280"/>
          </a:xfrm>
          <a:prstGeom prst="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889504"/>
            <a:ext cx="3977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182112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Up to 20%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66160"/>
            <a:ext cx="3977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robust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69080"/>
            <a:ext cx="4297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4069080"/>
            <a:ext cx="64008" cy="109728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215384"/>
            <a:ext cx="3977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PREDICTION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507992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&lt; 5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892040"/>
            <a:ext cx="3977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real-time decisioning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2. Executive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Demonstration results from a 200K-ticket synthetic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128016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MODELED SUPPORT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12.68M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31720"/>
            <a:ext cx="2240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2588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64008" cy="128016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AVG COST /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63.73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2588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64008" cy="1280160"/>
          </a:xfrm>
          <a:prstGeom prst="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AVG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1.89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32588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32520" y="1325880"/>
            <a:ext cx="64008" cy="1280160"/>
          </a:xfrm>
          <a:prstGeom prst="rect">
            <a:avLst/>
          </a:prstGeom>
          <a:solidFill>
            <a:srgbClr val="C3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ESCALATION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12.9%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06324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65960" y="3063240"/>
            <a:ext cx="64008" cy="1280160"/>
          </a:xfrm>
          <a:prstGeom prst="rect">
            <a:avLst/>
          </a:prstGeom>
          <a:solidFill>
            <a:srgbClr val="28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320954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AVERAGE CSAT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50215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4.56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069080"/>
            <a:ext cx="2240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target &gt; 4.2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306324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00600" y="3063240"/>
            <a:ext cx="64008" cy="128016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320954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COST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50215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−20%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06324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3063240"/>
            <a:ext cx="64008" cy="128016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19" y="320954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PREDICTION SLA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19" y="350215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&lt; 5 sec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749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F6C7A"/>
                </a:solidFill>
              </a:defRPr>
            </a:pPr>
            <a:r>
              <a:t>Important: these figures demonstrate the workflow; they are not CountryEdu's actual KPIs.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3. Analytical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A repeatable pipeline from raw tickets to management action.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4533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841"/>
                </a:solidFill>
              </a:defRPr>
            </a:pPr>
            <a: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C7A"/>
                </a:solidFill>
              </a:defRPr>
            </a:pPr>
            <a:r>
              <a:t>Missingness + validation</a:t>
            </a:r>
          </a:p>
        </p:txBody>
      </p:sp>
      <p:sp>
        <p:nvSpPr>
          <p:cNvPr id="9" name="Oval 8"/>
          <p:cNvSpPr/>
          <p:nvPr/>
        </p:nvSpPr>
        <p:spPr>
          <a:xfrm>
            <a:off x="4480559" y="1417320"/>
            <a:ext cx="502920" cy="502920"/>
          </a:xfrm>
          <a:prstGeom prst="ellipse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54533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9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841"/>
                </a:solidFill>
              </a:defRPr>
            </a:pPr>
            <a:r>
              <a:t>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1801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C7A"/>
                </a:solidFill>
              </a:defRPr>
            </a:pPr>
            <a:r>
              <a:t>Cost + volume + CSAT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1417320"/>
            <a:ext cx="502920" cy="502920"/>
          </a:xfrm>
          <a:prstGeom prst="ellipse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4533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841"/>
                </a:solidFill>
              </a:defRPr>
            </a:pPr>
            <a:r>
              <a:t>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801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C7A"/>
                </a:solidFill>
              </a:defRPr>
            </a:pPr>
            <a:r>
              <a:t>Category + priority + client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383280"/>
            <a:ext cx="502920" cy="502920"/>
          </a:xfrm>
          <a:prstGeom prst="ellipse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1129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841"/>
                </a:solidFill>
              </a:defRPr>
            </a:pPr>
            <a:r>
              <a:t>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67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C7A"/>
                </a:solidFill>
              </a:defRPr>
            </a:pPr>
            <a:r>
              <a:t>Escalation risk</a:t>
            </a:r>
          </a:p>
        </p:txBody>
      </p:sp>
      <p:sp>
        <p:nvSpPr>
          <p:cNvPr id="21" name="Oval 20"/>
          <p:cNvSpPr/>
          <p:nvPr/>
        </p:nvSpPr>
        <p:spPr>
          <a:xfrm>
            <a:off x="4480559" y="3383280"/>
            <a:ext cx="502920" cy="502920"/>
          </a:xfrm>
          <a:prstGeom prst="ellipse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51129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841"/>
                </a:solidFill>
              </a:defRPr>
            </a:pPr>
            <a:r>
              <a:t>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3767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C7A"/>
                </a:solidFill>
              </a:defRPr>
            </a:pPr>
            <a:r>
              <a:t>Routing + workforce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0" y="3383280"/>
            <a:ext cx="502920" cy="502920"/>
          </a:xfrm>
          <a:prstGeom prst="ellipse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51129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2841"/>
                </a:solidFill>
              </a:defRPr>
            </a:pPr>
            <a:r>
              <a:t>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767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C7A"/>
                </a:solidFill>
              </a:defRPr>
            </a:pPr>
            <a:r>
              <a:t>Power BI + streaming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4. Cost Driver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Prioritize the categories that consume the most support spend.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41"/>
                </a:solidFill>
              </a:defRPr>
            </a:pPr>
            <a:r>
              <a:t>Total support cost by issue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6479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1773936"/>
            <a:ext cx="4480560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556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3.1M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2276856"/>
            <a:ext cx="4410288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585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3.0M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Software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779776"/>
            <a:ext cx="4123508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76148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2.8M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3282696"/>
            <a:ext cx="1456453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644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1.0M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764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3785615"/>
            <a:ext cx="1369319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673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0.9M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7939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4288536"/>
            <a:ext cx="1332070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702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0.9M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8231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Email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4791456"/>
            <a:ext cx="864934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7731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0.6M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8523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Other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5294376"/>
            <a:ext cx="502582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27608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0.3M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14173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1417320"/>
            <a:ext cx="64008" cy="114300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9" y="1563624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CORE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9" y="185623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Hours × hourly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278892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Rank categories by total cost, not volume alone.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Identify high-cost + high-resolution segments.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Use Pareto analysis to focus automation.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Protect CSAT while reducing avoidable work.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5. Escalation &amp;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Escalation is both a cost driver and a service-quality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41"/>
                </a:solidFill>
              </a:defRPr>
            </a:pPr>
            <a:r>
              <a:t>Highest escalation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773936"/>
            <a:ext cx="3291839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17556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25.7%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011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429255"/>
            <a:ext cx="3129661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410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24.4%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7543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084575"/>
            <a:ext cx="2559980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306628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20.0%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30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Network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3739896"/>
            <a:ext cx="2408454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37216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18.8%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60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Software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4395216"/>
            <a:ext cx="1436096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43769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11.2%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4139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Other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50536"/>
            <a:ext cx="980997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50322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7.7%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325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41"/>
                </a:solidFill>
              </a:defRPr>
            </a:pPr>
            <a:r>
              <a:t>Lowest CSAT 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76479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773936"/>
            <a:ext cx="3205436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5640" y="17556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42011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2429255"/>
            <a:ext cx="3221185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5640" y="24109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4.5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07543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Hardware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3084575"/>
            <a:ext cx="3222861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35640" y="306628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4.5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730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Network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3739896"/>
            <a:ext cx="3244679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35640" y="37216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4.5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38607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Software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4395216"/>
            <a:ext cx="3279040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5640" y="43769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4.6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04139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2841"/>
                </a:solidFill>
              </a:defRPr>
            </a:pPr>
            <a:r>
              <a:t>Other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5050536"/>
            <a:ext cx="3291840" cy="201168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35640" y="50322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F6C7A"/>
                </a:solidFill>
              </a:defRPr>
            </a:pPr>
            <a:r>
              <a:t>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2841"/>
                </a:solidFill>
              </a:defRPr>
            </a:pPr>
            <a:r>
              <a:t>Hypothesis to validate: longer resolution + more escalations → higher cost and lower CSAT.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6. Missing Data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Do not discard large portions of the dataset simply because fields are incomplete.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Profile missingness by field, category, client and time.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Impute numerical fields with context-aware medians.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Use an explicit “Unknown” category for missing categorical values.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Retain missingness flags for auditability and model learning.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Re-check KPI distributions after imputation.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50876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508760"/>
            <a:ext cx="64008" cy="105156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655063"/>
            <a:ext cx="3154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NUMERICAL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947672"/>
            <a:ext cx="3154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Category median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78892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788920"/>
            <a:ext cx="64008" cy="105156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935224"/>
            <a:ext cx="3154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CATEGORICAL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227832"/>
            <a:ext cx="3154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Unknown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06908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069080"/>
            <a:ext cx="64008" cy="1051560"/>
          </a:xfrm>
          <a:prstGeom prst="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215384"/>
            <a:ext cx="3154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507992"/>
            <a:ext cx="3154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Missingness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7. Escalation-Risk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A fast, interpretable baseline for intelligent ticket triage.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23444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Logistic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25880"/>
            <a:ext cx="64008" cy="123444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0.720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86000"/>
            <a:ext cx="2240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synthetic holdout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64008" cy="1234440"/>
          </a:xfrm>
          <a:prstGeom prst="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Escalation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325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325880"/>
            <a:ext cx="64008" cy="1234440"/>
          </a:xfrm>
          <a:prstGeom prst="rect">
            <a:avLst/>
          </a:prstGeom>
          <a:solidFill>
            <a:srgbClr val="28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472184"/>
            <a:ext cx="22402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764792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Smart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10896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Issue category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Priority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Client type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Resolution time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Engineer hourly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4747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2841"/>
                </a:solidFill>
              </a:defRPr>
            </a:pPr>
            <a:r>
              <a:t>Ticket → features → risk score → routing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5720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C7A"/>
                </a:solidFill>
              </a:defRPr>
            </a:pPr>
            <a:r>
              <a:t>Production: benchmark gradient boosting, calibrate probabilities, monitor drift and latency.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8. Real-Time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Designed for 50K events/sec and a &lt;5-second prediction SLA.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508760" cy="868680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Ticket</a:t>
            </a:r>
            <a:br/>
            <a:r>
              <a:t>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F6C7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1828800"/>
            <a:ext cx="1508760" cy="86868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Kafka /</a:t>
            </a:r>
            <a:br/>
            <a:r>
              <a:t>Event 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F6C7A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1828800"/>
            <a:ext cx="1508760" cy="868680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</a:t>
            </a:r>
            <a:br/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9864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F6C7A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828800"/>
            <a:ext cx="1508760" cy="868680"/>
          </a:xfrm>
          <a:prstGeom prst="round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6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F6C7A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1828800"/>
            <a:ext cx="1508760" cy="868680"/>
          </a:xfrm>
          <a:prstGeom prst="roundRect">
            <a:avLst/>
          </a:prstGeom>
          <a:solidFill>
            <a:srgbClr val="28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7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F6C7A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1508760" cy="868680"/>
          </a:xfrm>
          <a:prstGeom prst="round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0574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84048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Streaming ingestion handles high event throughput.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Pre-computed features keep prediction latency low.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Warehouse layer supports historical analytics and model training.</a:t>
            </a:r>
          </a:p>
          <a:p>
            <a:pPr>
              <a:spcAft>
                <a:spcPts val="1000"/>
              </a:spcAft>
              <a:defRPr sz="1300">
                <a:solidFill>
                  <a:srgbClr val="142841"/>
                </a:solidFill>
              </a:defRPr>
            </a:pPr>
            <a:r>
              <a:t>• Monitor data quality, model drift and inference latency.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9. Engineer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Optimize capacity using work hours, skills and service-level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Workload = total resolution hours by engineer/team.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Utilization = productive hours ÷ available hours.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Route tickets using expertise + current load + priority + SLA.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Forecast demand by category before changing headcount.</a:t>
            </a:r>
          </a:p>
          <a:p>
            <a:pPr>
              <a:spcAft>
                <a:spcPts val="1000"/>
              </a:spcAft>
              <a:defRPr sz="1500">
                <a:solidFill>
                  <a:srgbClr val="142841"/>
                </a:solidFill>
              </a:defRPr>
            </a:pPr>
            <a:r>
              <a:t>• Rebalance capacity before making blanket staffing cuts.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63040"/>
            <a:ext cx="3566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1463040"/>
            <a:ext cx="64008" cy="109728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09344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019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Σ resolution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788920"/>
            <a:ext cx="3566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0" y="2788920"/>
            <a:ext cx="64008" cy="109728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935224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UTILIZATION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278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Productive ÷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114800"/>
            <a:ext cx="3566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114800"/>
            <a:ext cx="64008" cy="1097280"/>
          </a:xfrm>
          <a:prstGeom prst="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61104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55371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Skill + load + SLA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10. 20% Cost-Reduction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Illustrative planning bridge — validate against the actual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41"/>
                </a:solidFill>
              </a:defRPr>
            </a:pPr>
            <a:r>
              <a:t>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25880"/>
            <a:ext cx="4389120" cy="347472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399032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258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Self-service + repetitive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41"/>
                </a:solidFill>
              </a:defRPr>
            </a:pPr>
            <a:r>
              <a:t>Escalation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377439"/>
            <a:ext cx="2743200" cy="347472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450591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3774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Routing + first-line playbooks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41"/>
                </a:solidFill>
              </a:defRPr>
            </a:pPr>
            <a:r>
              <a:t>Engineer reallocation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429000"/>
            <a:ext cx="2194560" cy="347472"/>
          </a:xfrm>
          <a:prstGeom prst="round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50215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429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Balance workload and 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2841"/>
                </a:solidFill>
              </a:defRPr>
            </a:pPr>
            <a:r>
              <a:t>Resolution improvement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480559"/>
            <a:ext cx="1645919" cy="347472"/>
          </a:xfrm>
          <a:prstGeom prst="roundRect">
            <a:avLst/>
          </a:prstGeom>
          <a:solidFill>
            <a:srgbClr val="28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553712"/>
            <a:ext cx="16459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805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Remove high-cost bottlenecks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486400"/>
            <a:ext cx="4754880" cy="548640"/>
          </a:xfrm>
          <a:prstGeom prst="round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650992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TOTAL TARGET = 20 PERCENTAGE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11.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A management layer that tracks cost, service quality and workforce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960120"/>
          </a:xfrm>
          <a:prstGeom prst="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7218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TOTAL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64008" cy="96012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7218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COST /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258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64008" cy="960120"/>
          </a:xfrm>
          <a:prstGeom prst="rect">
            <a:avLst/>
          </a:prstGeom>
          <a:solidFill>
            <a:srgbClr val="C3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7218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647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6032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60320"/>
            <a:ext cx="64008" cy="960120"/>
          </a:xfrm>
          <a:prstGeom prst="rect">
            <a:avLst/>
          </a:prstGeom>
          <a:solidFill>
            <a:srgbClr val="28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70662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CSAT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2999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&gt;4.2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56032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2560320"/>
            <a:ext cx="64008" cy="960120"/>
          </a:xfrm>
          <a:prstGeom prst="rect">
            <a:avLst/>
          </a:prstGeom>
          <a:solidFill>
            <a:srgbClr val="E6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70662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999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56032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560320"/>
            <a:ext cx="64008" cy="960120"/>
          </a:xfrm>
          <a:prstGeom prst="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70662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F6C7A"/>
                </a:solidFill>
              </a:defRPr>
            </a:pPr>
            <a:r>
              <a:t>UTILIZATION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99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2841"/>
                </a:solidFill>
              </a:defRPr>
            </a:pPr>
            <a:r>
              <a:t>Balanced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2841"/>
                </a:solidFill>
              </a:defRPr>
            </a:pPr>
            <a:r>
              <a:t>Recommended pages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72000"/>
            <a:ext cx="242316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1888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42841"/>
                </a:solidFill>
              </a:defRPr>
            </a:pPr>
            <a:r>
              <a:t>Executive Overview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39" y="4572000"/>
            <a:ext cx="242316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481888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42841"/>
                </a:solidFill>
              </a:defRPr>
            </a:pPr>
            <a:r>
              <a:t>Cost Optimization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4572000"/>
            <a:ext cx="242316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481888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42841"/>
                </a:solidFill>
              </a:defRPr>
            </a:pPr>
            <a:r>
              <a:t>Customer Experience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572000"/>
            <a:ext cx="242316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4818888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42841"/>
                </a:solidFill>
              </a:defRPr>
            </a:pPr>
            <a:r>
              <a:t>Workforce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12.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Move from baseline measurement to optimization and then predictive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9B"/>
                </a:solidFill>
              </a:defRPr>
            </a:pPr>
            <a:r>
              <a:t>0–2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920240" cy="822960"/>
          </a:xfrm>
          <a:prstGeom prst="round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39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C7A"/>
                </a:solidFill>
              </a:defRPr>
            </a:pPr>
            <a:r>
              <a:t>Data audit + KPI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9B"/>
                </a:solidFill>
              </a:defRPr>
            </a:pPr>
            <a:r>
              <a:t>2–4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74519"/>
            <a:ext cx="1920240" cy="822960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39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C7A"/>
                </a:solidFill>
              </a:defRPr>
            </a:pPr>
            <a:r>
              <a:t>Cost + escalation + CSAT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9B"/>
                </a:solidFill>
              </a:defRPr>
            </a:pPr>
            <a:r>
              <a:t>4–8 weeks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74519"/>
            <a:ext cx="1920240" cy="822960"/>
          </a:xfrm>
          <a:prstGeom prst="round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139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Optimize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C7A"/>
                </a:solidFill>
              </a:defRPr>
            </a:pPr>
            <a:r>
              <a:t>Routing +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9B"/>
                </a:solidFill>
              </a:defRPr>
            </a:pPr>
            <a:r>
              <a:t>8–12 weeks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874519"/>
            <a:ext cx="1920240" cy="822960"/>
          </a:xfrm>
          <a:prstGeom prst="roundRect">
            <a:avLst/>
          </a:prstGeom>
          <a:solidFill>
            <a:srgbClr val="23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139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C7A"/>
                </a:solidFill>
              </a:defRPr>
            </a:pPr>
            <a:r>
              <a:t>Risk model +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9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19B"/>
                </a:solidFill>
              </a:defRPr>
            </a:pPr>
            <a:r>
              <a:t>Ongoing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874519"/>
            <a:ext cx="1920240" cy="822960"/>
          </a:xfrm>
          <a:prstGeom prst="round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59" y="2139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Govern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2971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C7A"/>
                </a:solidFill>
              </a:defRPr>
            </a:pPr>
            <a:r>
              <a:t>Dashboard + drift +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841"/>
                </a:solidFill>
              </a:defRPr>
            </a:pPr>
            <a:r>
              <a:t>Success gate: cost savings must be accompanied by CSAT ≥ 4.2 and acceptable SLA performance.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13. 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C8D7"/>
                </a:solidFill>
              </a:defRPr>
            </a:pPr>
            <a:r>
              <a:t>Targeted optimization beats blanket cost cutting.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Focus on the categories responsible for the largest share of support cost.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Automate repetitive, low-complexity work and strengthen knowledge management.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Predict escalation risk and route complex tickets early.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Rebalance engineers using workload, skills and SLA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Use streaming + pre-computed features to satisfy the &lt;5-second prediction requirement.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Track cost and CSAT together so savings do not damage customer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150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ECDD3"/>
                </a:solidFill>
              </a:defRPr>
            </a:pPr>
            <a:r>
              <a:t>Ready to replace the synthetic layer with the real 2M-ticket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